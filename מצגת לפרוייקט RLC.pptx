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Abadi" panose="020B0604020104020204" pitchFamily="34" charset="0"/>
      <p:regular r:id="rId8"/>
      <p:bold r:id="rId9"/>
      <p:italic r:id="rId10"/>
      <p:boldItalic r:id="rId11"/>
    </p:embeddedFont>
    <p:embeddedFont>
      <p:font typeface="Cambria Math" panose="02040503050406030204" pitchFamily="18" charset="0"/>
      <p:regular r:id="rId12"/>
    </p:embeddedFont>
    <p:embeddedFont>
      <p:font typeface="Unbounded" pitchFamily="2" charset="0"/>
      <p:regular r:id="rId13"/>
      <p:bold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20" y="2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02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79251" y="3308896"/>
            <a:ext cx="8533135" cy="44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מערכת אינטראקטיבית לפתרון נומרי של מעגל RLC טורי</a:t>
            </a:r>
            <a:endParaRPr lang="he-IL" sz="2800" dirty="0">
              <a:cs typeface="Calibri" panose="020F050202020403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4414" y="3979813"/>
            <a:ext cx="853797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2000"/>
              </a:lnSpc>
              <a:buNone/>
            </a:pPr>
            <a:r>
              <a:rPr lang="he-IL" altLang="en-US" sz="115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ממשק גרפי ב-MATLAB App Designer לניתוח וויזואליזציה של מעגלים חשמליים</a:t>
            </a:r>
            <a:endParaRPr lang="he-IL" sz="1150" dirty="0">
              <a:cs typeface="Calibri" panose="020F0502020204030204" pitchFamily="34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7657207" y="4393853"/>
            <a:ext cx="955179" cy="283964"/>
          </a:xfrm>
          <a:prstGeom prst="roundRect">
            <a:avLst>
              <a:gd name="adj" fmla="val 6419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291090" y="4439394"/>
            <a:ext cx="12302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2000"/>
              </a:lnSpc>
              <a:buNone/>
            </a:pPr>
            <a:r>
              <a:rPr lang="he-IL" altLang="en-US" sz="95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הנדסת מחשבים</a:t>
            </a:r>
            <a:endParaRPr lang="he-IL" sz="950" dirty="0">
              <a:cs typeface="Calibri" panose="020F050202020403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288063" y="4389090"/>
            <a:ext cx="1293242" cy="293489"/>
          </a:xfrm>
          <a:prstGeom prst="roundRect">
            <a:avLst>
              <a:gd name="adj" fmla="val 6211"/>
            </a:avLst>
          </a:prstGeom>
          <a:noFill/>
          <a:ln w="4763">
            <a:solidFill>
              <a:srgbClr val="0A98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926708" y="4439394"/>
            <a:ext cx="155875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2000"/>
              </a:lnSpc>
              <a:buNone/>
            </a:pPr>
            <a:r>
              <a:rPr lang="en-US" sz="950" dirty="0">
                <a:solidFill>
                  <a:srgbClr val="0A988B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MATLAB &amp; SIMULINK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73973" y="4389090"/>
            <a:ext cx="738187" cy="293489"/>
          </a:xfrm>
          <a:prstGeom prst="roundRect">
            <a:avLst>
              <a:gd name="adj" fmla="val 6211"/>
            </a:avLst>
          </a:prstGeom>
          <a:noFill/>
          <a:ln w="4763">
            <a:solidFill>
              <a:srgbClr val="0A98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112618" y="4439394"/>
            <a:ext cx="10036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2000"/>
              </a:lnSpc>
              <a:buNone/>
            </a:pPr>
            <a:r>
              <a:rPr lang="he-IL" altLang="en-US" sz="950" dirty="0">
                <a:solidFill>
                  <a:srgbClr val="0A988B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פתרון נומרי</a:t>
            </a:r>
            <a:endParaRPr lang="he-IL" sz="950" dirty="0"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48D780-5EF6-8357-C691-DF9F3C0C3255}"/>
              </a:ext>
            </a:extLst>
          </p:cNvPr>
          <p:cNvSpPr/>
          <p:nvPr/>
        </p:nvSpPr>
        <p:spPr>
          <a:xfrm>
            <a:off x="7968343" y="4813663"/>
            <a:ext cx="1175657" cy="283964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593DF8E-6CFD-BB6C-39E4-9AA3FE5DC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173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99431" y="382786"/>
            <a:ext cx="3293641" cy="354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מה האפליקציה עושה?</a:t>
            </a:r>
            <a:endParaRPr lang="he-IL" sz="2200" dirty="0"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17689" y="775022"/>
            <a:ext cx="1875383" cy="177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מטרת הפרויקט</a:t>
            </a:r>
            <a:endParaRPr lang="he-IL" sz="1600" dirty="0">
              <a:cs typeface="Calibri" panose="020F050202020403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21928" y="1093515"/>
            <a:ext cx="4871145" cy="1274118"/>
          </a:xfrm>
          <a:prstGeom prst="roundRect">
            <a:avLst>
              <a:gd name="adj" fmla="val 1419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659086" y="1170197"/>
            <a:ext cx="502550" cy="455787"/>
          </a:xfrm>
          <a:prstGeom prst="roundRect">
            <a:avLst>
              <a:gd name="adj" fmla="val 1580090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1870" y="1270786"/>
            <a:ext cx="276982" cy="2769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54338" y="1669852"/>
            <a:ext cx="1418183" cy="177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שימוש האפליקציה</a:t>
            </a:r>
            <a:endParaRPr lang="he-IL" sz="1400" dirty="0">
              <a:cs typeface="Calibri" panose="020F050202020403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21929" y="1903586"/>
            <a:ext cx="4750594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19000"/>
              </a:lnSpc>
              <a:buNone/>
            </a:pPr>
            <a:r>
              <a:rPr lang="he-IL" altLang="en-US" sz="100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האפליקציה מדמה בזמן אמת מעגל RLC טורי על ידי פתרון נומרי של המשוואה הדיפרנציאלית בסימולינק.</a:t>
            </a:r>
            <a:endParaRPr lang="he-IL" sz="1000" dirty="0">
              <a:cs typeface="Calibri" panose="020F050202020403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21928" y="2461766"/>
            <a:ext cx="4871145" cy="1102370"/>
          </a:xfrm>
          <a:prstGeom prst="roundRect">
            <a:avLst>
              <a:gd name="adj" fmla="val 164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659086" y="2582316"/>
            <a:ext cx="513437" cy="474836"/>
          </a:xfrm>
          <a:prstGeom prst="roundRect">
            <a:avLst>
              <a:gd name="adj" fmla="val 1580090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1468" y="2684138"/>
            <a:ext cx="267384" cy="2785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54338" y="3038103"/>
            <a:ext cx="1418183" cy="177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ממשק גרפי מתקדם</a:t>
            </a:r>
            <a:endParaRPr lang="he-IL" sz="1600" dirty="0">
              <a:cs typeface="Calibri" panose="020F050202020403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42479" y="3271838"/>
            <a:ext cx="4630043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he-IL" altLang="en-US" sz="100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 אינטראקטיבי ב-MATLAB App Designer</a:t>
            </a:r>
            <a:r>
              <a:rPr lang="en-GB" altLang="en-US" sz="100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altLang="en-US" sz="100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לחוויה מקצועית ואינטואיטיבית.</a:t>
            </a:r>
            <a:endParaRPr lang="he-IL" sz="1000" dirty="0">
              <a:cs typeface="Calibri" panose="020F0502020204030204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21928" y="3658270"/>
            <a:ext cx="4871145" cy="1102370"/>
          </a:xfrm>
          <a:prstGeom prst="roundRect">
            <a:avLst>
              <a:gd name="adj" fmla="val 164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659086" y="3709133"/>
            <a:ext cx="502550" cy="468994"/>
          </a:xfrm>
          <a:prstGeom prst="roundRect">
            <a:avLst>
              <a:gd name="adj" fmla="val 1580090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1870" y="3821758"/>
            <a:ext cx="269330" cy="2693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38786" y="4234607"/>
            <a:ext cx="1433736" cy="177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שליטה דינמית בפרמטרים</a:t>
            </a:r>
            <a:endParaRPr lang="he-IL" sz="1400" dirty="0">
              <a:cs typeface="Calibri" panose="020F050202020403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42479" y="4468341"/>
            <a:ext cx="4630043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9000"/>
              </a:lnSpc>
              <a:buNone/>
            </a:pPr>
            <a:r>
              <a:rPr lang="he-IL" altLang="en-US" sz="100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שליטה בזמן אמת על R, L, C ותדירות </a:t>
            </a:r>
            <a:r>
              <a:rPr lang="he-IL" altLang="en-US" sz="1000" b="1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ω₀</a:t>
            </a:r>
            <a:r>
              <a:rPr lang="he-IL" altLang="en-US" sz="100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he-IL" sz="1000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73" y="70260"/>
            <a:ext cx="2535901" cy="326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6000"/>
              </a:lnSpc>
              <a:spcAft>
                <a:spcPts val="350"/>
              </a:spcAft>
              <a:buNone/>
            </a:pPr>
            <a:r>
              <a:rPr lang="he-IL" altLang="en-US" sz="90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תדר גבוה(הסליל מתנהג כנתק)</a:t>
            </a:r>
          </a:p>
          <a:p>
            <a:pPr marL="0" indent="0" algn="ctr" rtl="1">
              <a:lnSpc>
                <a:spcPct val="106000"/>
              </a:lnSpc>
              <a:spcAft>
                <a:spcPts val="350"/>
              </a:spcAft>
              <a:buNone/>
            </a:pPr>
            <a:r>
              <a:rPr lang="en-GB" sz="900" dirty="0">
                <a:solidFill>
                  <a:srgbClr val="CAD6DE"/>
                </a:solidFill>
                <a:latin typeface="Abadi" panose="020F0502020204030204" pitchFamily="34" charset="0"/>
              </a:rPr>
              <a:t>{ R = 10, L = 1000m, C = 1000u, w0 = 500 }</a:t>
            </a:r>
            <a:endParaRPr lang="he-IL" sz="900" dirty="0">
              <a:cs typeface="Calibri" panose="020F050202020403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23" y="424499"/>
            <a:ext cx="2714448" cy="1276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9673" y="1760902"/>
            <a:ext cx="2535901" cy="326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6000"/>
              </a:lnSpc>
              <a:spcAft>
                <a:spcPts val="350"/>
              </a:spcAft>
              <a:buNone/>
            </a:pPr>
            <a:r>
              <a:rPr lang="he-IL" altLang="en-US" sz="90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תדר נמוך (הקבל מתנהג כנתק)</a:t>
            </a:r>
            <a:endParaRPr lang="en-GB" altLang="en-US" sz="900" dirty="0">
              <a:solidFill>
                <a:srgbClr val="CAD6DE"/>
              </a:solidFill>
              <a:latin typeface="Abad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 rtl="1">
              <a:lnSpc>
                <a:spcPct val="106000"/>
              </a:lnSpc>
              <a:spcAft>
                <a:spcPts val="350"/>
              </a:spcAft>
              <a:buNone/>
            </a:pPr>
            <a:r>
              <a:rPr lang="en-GB" sz="900" dirty="0">
                <a:solidFill>
                  <a:srgbClr val="CAD6DE"/>
                </a:solidFill>
                <a:latin typeface="Abadi" panose="020F0502020204030204" pitchFamily="34" charset="0"/>
              </a:rPr>
              <a:t>{ R = 10, L = 1m, C = 1u, w0 = 1 }</a:t>
            </a:r>
            <a:endParaRPr lang="he-IL" sz="900" dirty="0">
              <a:cs typeface="Calibri" panose="020F050202020403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16" y="2114609"/>
            <a:ext cx="2712355" cy="12577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9123" y="3399715"/>
            <a:ext cx="2535901" cy="326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6000"/>
              </a:lnSpc>
              <a:spcAft>
                <a:spcPts val="350"/>
              </a:spcAft>
              <a:buNone/>
            </a:pPr>
            <a:r>
              <a:rPr lang="he-IL" altLang="en-US" sz="90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מצב תהודה</a:t>
            </a:r>
            <a:endParaRPr lang="en-GB" altLang="en-US" sz="900" dirty="0">
              <a:solidFill>
                <a:srgbClr val="CAD6DE"/>
              </a:solidFill>
              <a:latin typeface="Abad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 rtl="1">
              <a:lnSpc>
                <a:spcPct val="106000"/>
              </a:lnSpc>
              <a:spcAft>
                <a:spcPts val="350"/>
              </a:spcAft>
              <a:buNone/>
            </a:pPr>
            <a:r>
              <a:rPr lang="en-GB" sz="900" dirty="0">
                <a:solidFill>
                  <a:srgbClr val="CAD6DE"/>
                </a:solidFill>
                <a:latin typeface="Abadi" panose="020F0502020204030204" pitchFamily="34" charset="0"/>
              </a:rPr>
              <a:t>{ R = 2, L = 200m, C = 500u, w0 = 100 </a:t>
            </a:r>
            <a:r>
              <a:rPr lang="en-GB" sz="700" dirty="0">
                <a:solidFill>
                  <a:srgbClr val="CAD6DE"/>
                </a:solidFill>
                <a:latin typeface="Abadi" panose="020F0502020204030204" pitchFamily="34" charset="0"/>
              </a:rPr>
              <a:t>}</a:t>
            </a:r>
            <a:endParaRPr lang="he-IL" sz="700" dirty="0">
              <a:cs typeface="Calibri" panose="020F050202020403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70" y="3726106"/>
            <a:ext cx="2723901" cy="12669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14554" y="0"/>
            <a:ext cx="2612901" cy="269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ארכיטקטורת המערכת</a:t>
            </a:r>
            <a:endParaRPr lang="he-IL" sz="3200" dirty="0"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E700D2-A18C-6AA4-1177-9A0481E26D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68343" y="4813663"/>
            <a:ext cx="1175657" cy="283964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4673" y="2467531"/>
            <a:ext cx="3084525" cy="9321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561949" y="2570006"/>
            <a:ext cx="1585939" cy="210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he-IL" altLang="en-US" sz="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🔧</a:t>
            </a:r>
            <a:r>
              <a:rPr lang="he-IL" alt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he-IL" alt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Simulink מנוע חישוב </a:t>
            </a:r>
            <a:r>
              <a:rPr lang="he-IL" alt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-</a:t>
            </a:r>
            <a:endParaRPr lang="he-IL" sz="800" dirty="0">
              <a:cs typeface="Calibri" panose="020F0502020204030204" pitchFamily="34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5281676" y="2822150"/>
            <a:ext cx="2956992" cy="55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 rtl="1">
              <a:lnSpc>
                <a:spcPct val="106000"/>
              </a:lnSpc>
              <a:buNone/>
            </a:pPr>
            <a:r>
              <a:rPr lang="he-IL" altLang="en-US" sz="105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קלטי המשתמש (R, L, C, תדירות) מוזרקים ל-</a:t>
            </a:r>
            <a:r>
              <a:rPr lang="en-GB" altLang="en-US" sz="1050" dirty="0">
                <a:solidFill>
                  <a:schemeClr val="bg1"/>
                </a:solidFill>
                <a:ea typeface="Calibri" panose="020F0502020204030204" pitchFamily="34" charset="0"/>
              </a:rPr>
              <a:t> Simulink</a:t>
            </a:r>
            <a:r>
              <a:rPr lang="he-IL" altLang="en-US" sz="105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r" rtl="1">
              <a:lnSpc>
                <a:spcPct val="106000"/>
              </a:lnSpc>
              <a:buNone/>
            </a:pPr>
            <a:r>
              <a:rPr lang="he-IL" altLang="en-US" sz="105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ה – </a:t>
            </a:r>
            <a:r>
              <a:rPr lang="en-GB" altLang="en-US" sz="1050" dirty="0">
                <a:solidFill>
                  <a:schemeClr val="bg1"/>
                </a:solidFill>
                <a:ea typeface="Calibri" panose="020F0502020204030204" pitchFamily="34" charset="0"/>
              </a:rPr>
              <a:t> Workspace </a:t>
            </a:r>
            <a:r>
              <a:rPr lang="he-IL" altLang="en-US" sz="105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פותר את משוואות ה-</a:t>
            </a:r>
            <a:r>
              <a:rPr lang="en-GB" altLang="en-US" sz="1050" dirty="0">
                <a:solidFill>
                  <a:schemeClr val="bg1"/>
                </a:solidFill>
                <a:ea typeface="Calibri" panose="020F0502020204030204" pitchFamily="34" charset="0"/>
              </a:rPr>
              <a:t> RLC </a:t>
            </a:r>
            <a:r>
              <a:rPr lang="he-IL" altLang="en-US" sz="105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ברקע, והתוצאות מוחזרות לתצוגה גרפית.</a:t>
            </a:r>
            <a:endParaRPr lang="en-GB" altLang="en-US" sz="1050" dirty="0">
              <a:solidFill>
                <a:schemeClr val="bg1"/>
              </a:solidFill>
              <a:ea typeface="Calibri" panose="020F0502020204030204" pitchFamily="34" charset="0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4673" y="3426542"/>
            <a:ext cx="3084525" cy="8069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786319" y="3475973"/>
            <a:ext cx="1413272" cy="139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⚠️</a:t>
            </a:r>
            <a:r>
              <a:rPr lang="he-IL" alt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בעיה: Undersampling</a:t>
            </a:r>
            <a:endParaRPr lang="he-IL" sz="1100" dirty="0">
              <a:cs typeface="Calibri" panose="020F0502020204030204" pitchFamily="34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5253440" y="3731096"/>
            <a:ext cx="2894449" cy="409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 rtl="1">
              <a:lnSpc>
                <a:spcPct val="106000"/>
              </a:lnSpc>
              <a:buNone/>
            </a:pPr>
            <a:r>
              <a:rPr lang="he-IL" altLang="en-US" sz="1050" dirty="0">
                <a:solidFill>
                  <a:schemeClr val="bg1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בתדירויות גבוהות ה-Solver מדלג על נקודות דגימה — מה שיוצר גל שבור ולא אמין פיזיקלית.</a:t>
            </a:r>
            <a:endParaRPr lang="he-IL" sz="105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217E81E-6029-1705-102A-C06E16FA63B6}"/>
              </a:ext>
            </a:extLst>
          </p:cNvPr>
          <p:cNvSpPr/>
          <p:nvPr/>
        </p:nvSpPr>
        <p:spPr>
          <a:xfrm>
            <a:off x="5231147" y="4260336"/>
            <a:ext cx="3058050" cy="806968"/>
          </a:xfrm>
          <a:custGeom>
            <a:avLst/>
            <a:gdLst>
              <a:gd name="csX0" fmla="*/ 0 w 3058050"/>
              <a:gd name="csY0" fmla="*/ 14216 h 806968"/>
              <a:gd name="csX1" fmla="*/ 34485 w 3058050"/>
              <a:gd name="csY1" fmla="*/ 0 h 806968"/>
              <a:gd name="csX2" fmla="*/ 3043392 w 3058050"/>
              <a:gd name="csY2" fmla="*/ 0 h 806968"/>
              <a:gd name="csX3" fmla="*/ 3058051 w 3058050"/>
              <a:gd name="csY3" fmla="*/ 14590 h 806968"/>
              <a:gd name="csX4" fmla="*/ 3058051 w 3058050"/>
              <a:gd name="csY4" fmla="*/ 792378 h 806968"/>
              <a:gd name="csX5" fmla="*/ 3043392 w 3058050"/>
              <a:gd name="csY5" fmla="*/ 806968 h 806968"/>
              <a:gd name="csX6" fmla="*/ 34485 w 3058050"/>
              <a:gd name="csY6" fmla="*/ 806968 h 806968"/>
              <a:gd name="csX7" fmla="*/ 0 w 3058050"/>
              <a:gd name="csY7" fmla="*/ 792752 h 806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058050" h="806968">
                <a:moveTo>
                  <a:pt x="0" y="14216"/>
                </a:moveTo>
                <a:cubicBezTo>
                  <a:pt x="9146" y="5113"/>
                  <a:pt x="21550" y="0"/>
                  <a:pt x="34485" y="0"/>
                </a:cubicBezTo>
                <a:lnTo>
                  <a:pt x="3043392" y="0"/>
                </a:lnTo>
                <a:cubicBezTo>
                  <a:pt x="3051488" y="0"/>
                  <a:pt x="3058051" y="6532"/>
                  <a:pt x="3058051" y="14590"/>
                </a:cubicBezTo>
                <a:lnTo>
                  <a:pt x="3058051" y="792378"/>
                </a:lnTo>
                <a:cubicBezTo>
                  <a:pt x="3058051" y="800436"/>
                  <a:pt x="3051488" y="806968"/>
                  <a:pt x="3043392" y="806968"/>
                </a:cubicBezTo>
                <a:lnTo>
                  <a:pt x="34485" y="806968"/>
                </a:lnTo>
                <a:cubicBezTo>
                  <a:pt x="21550" y="806968"/>
                  <a:pt x="9146" y="801855"/>
                  <a:pt x="0" y="792752"/>
                </a:cubicBezTo>
              </a:path>
            </a:pathLst>
          </a:custGeom>
          <a:noFill/>
          <a:ln w="24321" cap="flat">
            <a:solidFill>
              <a:srgbClr val="49606E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45FFD39-619B-A4E0-E7DD-0D954CFAE0A4}"/>
              </a:ext>
            </a:extLst>
          </p:cNvPr>
          <p:cNvSpPr/>
          <p:nvPr/>
        </p:nvSpPr>
        <p:spPr>
          <a:xfrm>
            <a:off x="5204673" y="4260337"/>
            <a:ext cx="48767" cy="806968"/>
          </a:xfrm>
          <a:custGeom>
            <a:avLst/>
            <a:gdLst>
              <a:gd name="csX0" fmla="*/ 14659 w 48767"/>
              <a:gd name="csY0" fmla="*/ 0 h 806968"/>
              <a:gd name="csX1" fmla="*/ 48767 w 48767"/>
              <a:gd name="csY1" fmla="*/ 0 h 806968"/>
              <a:gd name="csX2" fmla="*/ 48767 w 48767"/>
              <a:gd name="csY2" fmla="*/ 0 h 806968"/>
              <a:gd name="csX3" fmla="*/ 48767 w 48767"/>
              <a:gd name="csY3" fmla="*/ 806968 h 806968"/>
              <a:gd name="csX4" fmla="*/ 48767 w 48767"/>
              <a:gd name="csY4" fmla="*/ 806968 h 806968"/>
              <a:gd name="csX5" fmla="*/ 14659 w 48767"/>
              <a:gd name="csY5" fmla="*/ 806968 h 806968"/>
              <a:gd name="csX6" fmla="*/ 0 w 48767"/>
              <a:gd name="csY6" fmla="*/ 792378 h 806968"/>
              <a:gd name="csX7" fmla="*/ 0 w 48767"/>
              <a:gd name="csY7" fmla="*/ 14590 h 806968"/>
              <a:gd name="csX8" fmla="*/ 14659 w 48767"/>
              <a:gd name="csY8" fmla="*/ 0 h 806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767" h="806968">
                <a:moveTo>
                  <a:pt x="14659" y="0"/>
                </a:moveTo>
                <a:lnTo>
                  <a:pt x="48767" y="0"/>
                </a:lnTo>
                <a:lnTo>
                  <a:pt x="48767" y="0"/>
                </a:lnTo>
                <a:lnTo>
                  <a:pt x="48767" y="806968"/>
                </a:lnTo>
                <a:lnTo>
                  <a:pt x="48767" y="806968"/>
                </a:lnTo>
                <a:lnTo>
                  <a:pt x="14659" y="806968"/>
                </a:lnTo>
                <a:cubicBezTo>
                  <a:pt x="6563" y="806968"/>
                  <a:pt x="0" y="800436"/>
                  <a:pt x="0" y="792378"/>
                </a:cubicBezTo>
                <a:lnTo>
                  <a:pt x="0" y="14590"/>
                </a:lnTo>
                <a:cubicBezTo>
                  <a:pt x="0" y="6532"/>
                  <a:pt x="6563" y="0"/>
                  <a:pt x="14659" y="0"/>
                </a:cubicBezTo>
              </a:path>
            </a:pathLst>
          </a:custGeom>
          <a:solidFill>
            <a:srgbClr val="0A988B"/>
          </a:solidFill>
          <a:ln w="608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8"/>
          <p:cNvSpPr/>
          <p:nvPr/>
        </p:nvSpPr>
        <p:spPr>
          <a:xfrm>
            <a:off x="7070076" y="4305439"/>
            <a:ext cx="1077813" cy="139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1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✅</a:t>
            </a:r>
            <a:r>
              <a:rPr lang="he-IL" alt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פתרון: דגימה דינמית</a:t>
            </a:r>
            <a:endParaRPr lang="he-IL" sz="1100" dirty="0">
              <a:cs typeface="Calibri" panose="020F0502020204030204" pitchFamily="34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822699" y="4497357"/>
            <a:ext cx="2270071" cy="51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 rtl="1">
              <a:lnSpc>
                <a:spcPct val="106000"/>
              </a:lnSpc>
              <a:buNone/>
            </a:pPr>
            <a:endParaRPr lang="he-IL" sz="1050" dirty="0">
              <a:solidFill>
                <a:schemeClr val="bg1"/>
              </a:solidFill>
              <a:latin typeface="Abad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17D478-D815-0F78-BBBE-F863B0216BCB}"/>
              </a:ext>
            </a:extLst>
          </p:cNvPr>
          <p:cNvSpPr txBox="1"/>
          <p:nvPr/>
        </p:nvSpPr>
        <p:spPr>
          <a:xfrm>
            <a:off x="5122806" y="4497357"/>
            <a:ext cx="316949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050" dirty="0">
                <a:solidFill>
                  <a:schemeClr val="bg1"/>
                </a:solidFill>
                <a:cs typeface="Calibri" panose="020F0502020204030204" pitchFamily="34" charset="0"/>
              </a:rPr>
              <a:t>האפליקציה מחשבת       </a:t>
            </a:r>
            <a:r>
              <a:rPr lang="en-GB" sz="1050" dirty="0">
                <a:solidFill>
                  <a:schemeClr val="bg1"/>
                </a:solidFill>
                <a:cs typeface="Calibri" panose="020F0502020204030204" pitchFamily="34" charset="0"/>
              </a:rPr>
              <a:t>          </a:t>
            </a:r>
            <a:r>
              <a:rPr lang="he-IL" sz="1050" dirty="0">
                <a:solidFill>
                  <a:schemeClr val="bg1"/>
                </a:solidFill>
                <a:cs typeface="Calibri" panose="020F0502020204030204" pitchFamily="34" charset="0"/>
              </a:rPr>
              <a:t>ואוכפת        </a:t>
            </a:r>
            <a:r>
              <a:rPr lang="en-GB" sz="1050" dirty="0">
                <a:solidFill>
                  <a:schemeClr val="bg1"/>
                </a:solidFill>
                <a:cs typeface="Calibri" panose="020F0502020204030204" pitchFamily="34" charset="0"/>
              </a:rPr>
              <a:t>       </a:t>
            </a:r>
          </a:p>
          <a:p>
            <a:pPr algn="r" rtl="1"/>
            <a:endParaRPr lang="en-GB" sz="105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r" rtl="1"/>
            <a:r>
              <a:rPr lang="he-IL" sz="1050" dirty="0">
                <a:solidFill>
                  <a:schemeClr val="bg1"/>
                </a:solidFill>
                <a:cs typeface="Calibri" panose="020F0502020204030204" pitchFamily="34" charset="0"/>
              </a:rPr>
              <a:t>לפחות 300 נקודות</a:t>
            </a:r>
            <a:r>
              <a:rPr lang="en-GB" sz="1050" dirty="0">
                <a:solidFill>
                  <a:schemeClr val="bg1"/>
                </a:solidFill>
                <a:cs typeface="Calibri" panose="020F0502020204030204" pitchFamily="34" charset="0"/>
              </a:rPr>
              <a:t> </a:t>
            </a:r>
            <a:r>
              <a:rPr lang="he-IL" sz="1050" dirty="0">
                <a:solidFill>
                  <a:schemeClr val="bg1"/>
                </a:solidFill>
                <a:cs typeface="Calibri" panose="020F0502020204030204" pitchFamily="34" charset="0"/>
              </a:rPr>
              <a:t>למחזור, בכל תדירות </a:t>
            </a:r>
            <a:r>
              <a:rPr lang="en-GB" sz="1050" dirty="0">
                <a:solidFill>
                  <a:schemeClr val="bg1"/>
                </a:solidFill>
                <a:cs typeface="Calibri" panose="020F0502020204030204" pitchFamily="34" charset="0"/>
              </a:rPr>
              <a:t>.</a:t>
            </a:r>
            <a:r>
              <a:rPr lang="he-IL" sz="1050" dirty="0">
                <a:solidFill>
                  <a:schemeClr val="bg1"/>
                </a:solidFill>
                <a:cs typeface="Calibri" panose="020F0502020204030204" pitchFamily="34" charset="0"/>
              </a:rPr>
              <a:t>        </a:t>
            </a:r>
            <a:endParaRPr lang="en-US" sz="105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8C5B6F8-5CCE-CFD2-42F2-1C423EB80651}"/>
                  </a:ext>
                </a:extLst>
              </p:cNvPr>
              <p:cNvSpPr txBox="1"/>
              <p:nvPr/>
            </p:nvSpPr>
            <p:spPr>
              <a:xfrm>
                <a:off x="6608922" y="4439222"/>
                <a:ext cx="696692" cy="3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he-IL" sz="9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sz="9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9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he-IL" sz="9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he-IL" sz="9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9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he-IL" sz="9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9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8C5B6F8-5CCE-CFD2-42F2-1C423EB80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922" y="4439222"/>
                <a:ext cx="696692" cy="376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97277B7-4D3C-3BD0-2ACA-9F28E96397E8}"/>
                  </a:ext>
                </a:extLst>
              </p:cNvPr>
              <p:cNvSpPr txBox="1"/>
              <p:nvPr/>
            </p:nvSpPr>
            <p:spPr>
              <a:xfrm>
                <a:off x="5009575" y="4503884"/>
                <a:ext cx="1737360" cy="2593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𝑀𝑎𝑥𝑆𝑡𝑒𝑝</m:t>
                      </m:r>
                      <m:r>
                        <a:rPr lang="en-GB" sz="9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GB" sz="9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300</m:t>
                          </m:r>
                        </m:den>
                      </m:f>
                    </m:oMath>
                  </m:oMathPara>
                </a14:m>
                <a:endParaRPr lang="en-US" sz="9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97277B7-4D3C-3BD0-2ACA-9F28E9639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575" y="4503884"/>
                <a:ext cx="1737360" cy="259302"/>
              </a:xfrm>
              <a:prstGeom prst="rect">
                <a:avLst/>
              </a:prstGeom>
              <a:blipFill>
                <a:blip r:embed="rId9"/>
                <a:stretch>
                  <a:fillRect t="-476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B700D91B-FF03-6841-3424-3EE78D1015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5354" y="463800"/>
            <a:ext cx="4767135" cy="1960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7677" y="401927"/>
            <a:ext cx="3859337" cy="304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הנדסת ממשק מול מציאות פיזיקלית</a:t>
            </a:r>
            <a:endParaRPr lang="he-IL" sz="1900" dirty="0"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45506" y="706801"/>
            <a:ext cx="27794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אתגרי קנה המידה ופתרון Combined Axis</a:t>
            </a:r>
            <a:endParaRPr lang="he-IL" sz="950" dirty="0">
              <a:cs typeface="Calibri" panose="020F050202020403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947" y="1031933"/>
            <a:ext cx="6039697" cy="38117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7612" y="1248249"/>
            <a:ext cx="242009" cy="2420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506" y="1297486"/>
            <a:ext cx="1684746" cy="237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אתגר קנה המידה</a:t>
            </a:r>
            <a:endParaRPr lang="he-IL" sz="1000" dirty="0">
              <a:cs typeface="Calibri" panose="020F050202020403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31949" y="1479304"/>
            <a:ext cx="1684746" cy="86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11000"/>
              </a:lnSpc>
              <a:buNone/>
            </a:pPr>
            <a:r>
              <a:rPr lang="he-IL" altLang="en-US" sz="900" dirty="0">
                <a:solidFill>
                  <a:srgbClr val="CAD6DE"/>
                </a:solidFill>
                <a:latin typeface="Abad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 Scale מעוות פרופורציות במצבי קיצון — מציג מתחים אפסיים כגדולים.</a:t>
            </a:r>
            <a:endParaRPr lang="he-IL" sz="900" dirty="0">
              <a:cs typeface="Calibri" panose="020F050202020403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66355" y="2263930"/>
            <a:ext cx="1364897" cy="372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פתרון Combined Axis</a:t>
            </a:r>
            <a:endParaRPr lang="he-IL" sz="950" dirty="0">
              <a:cs typeface="Calibri" panose="020F050202020403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217890" y="2478087"/>
            <a:ext cx="1586542" cy="67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11000"/>
              </a:lnSpc>
              <a:buNone/>
            </a:pPr>
            <a:r>
              <a:rPr lang="he-IL" altLang="en-US" sz="900" dirty="0">
                <a:solidFill>
                  <a:srgbClr val="CAD6DE"/>
                </a:solidFill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גרף מרכזי עם קנה מידה אחיד — חושף את הפרופורציה הפיזיקלית האמיתית.</a:t>
            </a:r>
            <a:endParaRPr lang="he-IL" sz="900" dirty="0">
              <a:cs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320937" y="3311274"/>
            <a:ext cx="1364897" cy="18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he-IL" alt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המחשת תהודה</a:t>
            </a:r>
            <a:endParaRPr lang="he-IL" sz="1000" dirty="0">
              <a:cs typeface="Calibri" panose="020F050202020403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300924" y="3482179"/>
            <a:ext cx="1495758" cy="7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11000"/>
              </a:lnSpc>
              <a:buNone/>
            </a:pPr>
            <a:r>
              <a:rPr lang="he-IL" altLang="en-US" sz="900" dirty="0">
                <a:solidFill>
                  <a:srgbClr val="CAD6DE"/>
                </a:solidFill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 הדגמה מדויקת של מצבי קיצון</a:t>
            </a:r>
          </a:p>
          <a:p>
            <a:pPr marL="0" indent="0" algn="r" rtl="1">
              <a:lnSpc>
                <a:spcPct val="111000"/>
              </a:lnSpc>
              <a:buNone/>
            </a:pPr>
            <a:r>
              <a:rPr lang="he-IL" altLang="en-US" sz="900" dirty="0">
                <a:solidFill>
                  <a:srgbClr val="CAD6DE"/>
                </a:solidFill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 בניית אנרגיה עד למתח שיא בהתאם מלא לחוקי הפיזיקה.</a:t>
            </a:r>
            <a:endParaRPr lang="he-IL" sz="900" dirty="0">
              <a:cs typeface="Calibri" panose="020F0502020204030204" pitchFamily="34" charset="0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235494" y="4174797"/>
            <a:ext cx="1763123" cy="723774"/>
          </a:xfrm>
          <a:prstGeom prst="roundRect">
            <a:avLst>
              <a:gd name="adj" fmla="val 2622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319" y="4246091"/>
            <a:ext cx="229578" cy="18368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39151" y="4263349"/>
            <a:ext cx="1309263" cy="58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11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עקביות מלאה בין הייצוג הגרפי למציאות הפיזיקלית בכל תנאי הפעלה.</a:t>
            </a:r>
            <a:endParaRPr lang="he-IL" sz="1000" dirty="0">
              <a:cs typeface="Calibri" panose="020F0502020204030204" pitchFamily="34" charset="0"/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4DBBF4FD-0543-A2B1-9E37-47FBF0E66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7612" y="2236142"/>
            <a:ext cx="242009" cy="242009"/>
          </a:xfrm>
          <a:prstGeom prst="rect">
            <a:avLst/>
          </a:prstGeom>
        </p:spPr>
      </p:pic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9F2DC13E-BA8E-FC42-7509-2681F5545F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1587" y="3284366"/>
            <a:ext cx="242009" cy="24200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AEA0C40-40F5-6EDD-E16B-EB6FB6A26DFF}"/>
              </a:ext>
            </a:extLst>
          </p:cNvPr>
          <p:cNvSpPr/>
          <p:nvPr/>
        </p:nvSpPr>
        <p:spPr>
          <a:xfrm>
            <a:off x="7916092" y="4859536"/>
            <a:ext cx="1175657" cy="283964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3478" y="459804"/>
            <a:ext cx="6357045" cy="7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46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הסוף</a:t>
            </a:r>
            <a:endParaRPr lang="he-IL" sz="4600" dirty="0"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07952" y="1350020"/>
            <a:ext cx="4528096" cy="50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3200" b="1" dirty="0">
                <a:solidFill>
                  <a:srgbClr val="B05EF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קרדיטים</a:t>
            </a:r>
            <a:endParaRPr lang="he-IL" sz="3200" dirty="0"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116857" y="2011635"/>
            <a:ext cx="4910212" cy="50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3200" b="1" dirty="0">
                <a:solidFill>
                  <a:srgbClr val="B05EF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עוזר עיצוב: נועם אבוטבול</a:t>
            </a:r>
            <a:endParaRPr lang="he-IL" sz="3200" dirty="0">
              <a:cs typeface="Calibri" panose="020F050202020403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858" y="3071923"/>
            <a:ext cx="1507703" cy="1507703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752" y="3053840"/>
            <a:ext cx="1506141" cy="1506141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084" y="3071923"/>
            <a:ext cx="1488058" cy="148805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737FCA-B610-6248-8275-5A6F0EBBD21A}"/>
              </a:ext>
            </a:extLst>
          </p:cNvPr>
          <p:cNvSpPr/>
          <p:nvPr/>
        </p:nvSpPr>
        <p:spPr>
          <a:xfrm>
            <a:off x="7968343" y="4813663"/>
            <a:ext cx="1175657" cy="283964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307</Words>
  <Application>Microsoft Office PowerPoint</Application>
  <PresentationFormat>On-screen Show (16:9)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Cambria Math</vt:lpstr>
      <vt:lpstr>Calibri</vt:lpstr>
      <vt:lpstr>Abadi</vt:lpstr>
      <vt:lpstr>Unbounded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אסף חיון</cp:lastModifiedBy>
  <cp:revision>7</cp:revision>
  <dcterms:created xsi:type="dcterms:W3CDTF">2026-06-15T13:53:21Z</dcterms:created>
  <dcterms:modified xsi:type="dcterms:W3CDTF">2026-06-16T16:21:48Z</dcterms:modified>
</cp:coreProperties>
</file>